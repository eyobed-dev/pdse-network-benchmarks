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1" r:id="rId1"/>
  </p:sldMasterIdLst>
  <p:notesMasterIdLst>
    <p:notesMasterId r:id="rId6"/>
  </p:notesMasterIdLst>
  <p:handoutMasterIdLst>
    <p:handoutMasterId r:id="rId7"/>
  </p:handoutMasterIdLst>
  <p:sldIdLst>
    <p:sldId id="557" r:id="rId2"/>
    <p:sldId id="558" r:id="rId3"/>
    <p:sldId id="860" r:id="rId4"/>
    <p:sldId id="832" r:id="rId5"/>
  </p:sldIdLst>
  <p:sldSz cx="9144000" cy="6858000" type="screen4x3"/>
  <p:notesSz cx="7099300" cy="10234613"/>
  <p:defaultTextStyle>
    <a:defPPr>
      <a:defRPr lang="en-US"/>
    </a:defPPr>
    <a:lvl1pPr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64">
          <p15:clr>
            <a:srgbClr val="A4A3A4"/>
          </p15:clr>
        </p15:guide>
        <p15:guide id="2" pos="2880">
          <p15:clr>
            <a:srgbClr val="A4A3A4"/>
          </p15:clr>
        </p15:guide>
        <p15:guide id="3" pos="32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696"/>
    <a:srgbClr val="610061"/>
    <a:srgbClr val="A80000"/>
    <a:srgbClr val="EF6611"/>
    <a:srgbClr val="FCFF79"/>
    <a:srgbClr val="E5FF85"/>
    <a:srgbClr val="AFCB95"/>
    <a:srgbClr val="E1E1E1"/>
    <a:srgbClr val="336666"/>
    <a:srgbClr val="CCB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25" autoAdjust="0"/>
    <p:restoredTop sz="87517" autoAdjust="0"/>
  </p:normalViewPr>
  <p:slideViewPr>
    <p:cSldViewPr snapToGrid="0">
      <p:cViewPr varScale="1">
        <p:scale>
          <a:sx n="108" d="100"/>
          <a:sy n="108" d="100"/>
        </p:scale>
        <p:origin x="1112" y="192"/>
      </p:cViewPr>
      <p:guideLst>
        <p:guide orient="horz" pos="1064"/>
        <p:guide pos="2880"/>
        <p:guide pos="3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-1266" y="-78"/>
      </p:cViewPr>
      <p:guideLst>
        <p:guide orient="horz" pos="3224"/>
        <p:guide pos="2236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l" defTabSz="990600">
              <a:lnSpc>
                <a:spcPct val="100000"/>
              </a:lnSpc>
              <a:defRPr sz="1300"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lnSpc>
                <a:spcPct val="100000"/>
              </a:lnSpc>
              <a:defRPr sz="1300"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l" defTabSz="990600">
              <a:lnSpc>
                <a:spcPct val="100000"/>
              </a:lnSpc>
              <a:defRPr sz="1300"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lnSpc>
                <a:spcPct val="100000"/>
              </a:lnSpc>
              <a:defRPr sz="1300" b="1"/>
            </a:lvl1pPr>
          </a:lstStyle>
          <a:p>
            <a:pPr>
              <a:defRPr/>
            </a:pPr>
            <a:fld id="{44C7E175-4609-4BD8-9A69-802EB4EBD0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270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l" defTabSz="990600">
              <a:lnSpc>
                <a:spcPct val="100000"/>
              </a:lnSpc>
              <a:defRPr sz="1300"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lnSpc>
                <a:spcPct val="100000"/>
              </a:lnSpc>
              <a:defRPr sz="1300"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60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l" defTabSz="990600">
              <a:lnSpc>
                <a:spcPct val="100000"/>
              </a:lnSpc>
              <a:defRPr sz="1300"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lnSpc>
                <a:spcPct val="100000"/>
              </a:lnSpc>
              <a:defRPr sz="1300" b="1"/>
            </a:lvl1pPr>
          </a:lstStyle>
          <a:p>
            <a:pPr>
              <a:defRPr/>
            </a:pPr>
            <a:fld id="{F389164F-FEA1-4992-89B3-E566EEBAA7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15917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 userDrawn="1"/>
        </p:nvSpPr>
        <p:spPr bwMode="auto">
          <a:xfrm rot="16200000">
            <a:off x="3200400" y="-1570037"/>
            <a:ext cx="2743200" cy="9144000"/>
          </a:xfrm>
          <a:prstGeom prst="rect">
            <a:avLst/>
          </a:prstGeom>
          <a:solidFill>
            <a:srgbClr val="015F85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73025" tIns="36512" rIns="73025" bIns="36512" anchor="ctr"/>
          <a:lstStyle/>
          <a:p>
            <a:pPr>
              <a:defRPr/>
            </a:pPr>
            <a:endParaRPr lang="sk-SK"/>
          </a:p>
        </p:txBody>
      </p:sp>
      <p:sp>
        <p:nvSpPr>
          <p:cNvPr id="147479" name="Rectangle 23"/>
          <p:cNvSpPr>
            <a:spLocks noGrp="1" noChangeArrowheads="1"/>
          </p:cNvSpPr>
          <p:nvPr>
            <p:ph type="ctrTitle"/>
          </p:nvPr>
        </p:nvSpPr>
        <p:spPr bwMode="white">
          <a:xfrm>
            <a:off x="650875" y="2676525"/>
            <a:ext cx="3768725" cy="830263"/>
          </a:xfrm>
          <a:ln/>
        </p:spPr>
        <p:txBody>
          <a:bodyPr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7480" name="Rectangle 24"/>
          <p:cNvSpPr>
            <a:spLocks noGrp="1" noChangeArrowheads="1"/>
          </p:cNvSpPr>
          <p:nvPr>
            <p:ph type="subTitle" idx="1"/>
          </p:nvPr>
        </p:nvSpPr>
        <p:spPr>
          <a:xfrm>
            <a:off x="650875" y="4733925"/>
            <a:ext cx="6940550" cy="419100"/>
          </a:xfrm>
          <a:ln/>
        </p:spPr>
        <p:txBody>
          <a:bodyPr/>
          <a:lstStyle>
            <a:lvl1pPr marL="0" indent="0">
              <a:lnSpc>
                <a:spcPct val="90000"/>
              </a:lnSpc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31528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fld id="{DCC649FD-B645-4DB0-A7B5-ED8F2153FD55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  <a:defRPr/>
              </a:pPr>
              <a:t>‹#›</a:t>
            </a:fld>
            <a:endParaRPr lang="en-US" sz="1000" dirty="0">
              <a:solidFill>
                <a:srgbClr val="D3D3D3"/>
              </a:solidFill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1628775"/>
            <a:ext cx="9144000" cy="2743200"/>
          </a:xfrm>
          <a:prstGeom prst="rect">
            <a:avLst/>
          </a:prstGeom>
          <a:solidFill>
            <a:srgbClr val="015F85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ctr">
            <a:spAutoFit/>
          </a:bodyPr>
          <a:lstStyle/>
          <a:p>
            <a:pPr>
              <a:defRPr/>
            </a:pPr>
            <a:endParaRPr lang="sk-SK"/>
          </a:p>
        </p:txBody>
      </p:sp>
      <p:sp>
        <p:nvSpPr>
          <p:cNvPr id="26" name="Rectangle 23"/>
          <p:cNvSpPr>
            <a:spLocks noGrp="1" noChangeArrowheads="1"/>
          </p:cNvSpPr>
          <p:nvPr>
            <p:ph type="ctrTitle"/>
          </p:nvPr>
        </p:nvSpPr>
        <p:spPr bwMode="white">
          <a:xfrm>
            <a:off x="168677" y="2676525"/>
            <a:ext cx="4598632" cy="830263"/>
          </a:xfrm>
          <a:ln/>
        </p:spPr>
        <p:txBody>
          <a:bodyPr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5963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Kliknite sem a upravte štýl predlohy nadpisov.</a:t>
            </a:r>
          </a:p>
        </p:txBody>
      </p:sp>
      <p:sp>
        <p:nvSpPr>
          <p:cNvPr id="3" name="Zástupný symbol obsah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sk-SK"/>
              <a:t>Kliknite sem a upravte štýly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</p:spTree>
    <p:extLst>
      <p:ext uri="{BB962C8B-B14F-4D97-AF65-F5344CB8AC3E}">
        <p14:creationId xmlns:p14="http://schemas.microsoft.com/office/powerpoint/2010/main" val="208659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sk-SK"/>
              <a:t>Kliknite sem a upravte štýl predlohy nadpisov.</a:t>
            </a:r>
          </a:p>
        </p:txBody>
      </p:sp>
      <p:sp>
        <p:nvSpPr>
          <p:cNvPr id="3" name="Zástupný symbol text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sk-SK"/>
              <a:t>Kliknite sem a upravte štýly predlohy textu.</a:t>
            </a:r>
          </a:p>
        </p:txBody>
      </p:sp>
    </p:spTree>
    <p:extLst>
      <p:ext uri="{BB962C8B-B14F-4D97-AF65-F5344CB8AC3E}">
        <p14:creationId xmlns:p14="http://schemas.microsoft.com/office/powerpoint/2010/main" val="3273085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Kliknite sem a upravte štýl predlohy nadpisov.</a:t>
            </a:r>
          </a:p>
        </p:txBody>
      </p:sp>
      <p:sp>
        <p:nvSpPr>
          <p:cNvPr id="3" name="Zástupný symbol obsahu 2"/>
          <p:cNvSpPr>
            <a:spLocks noGrp="1"/>
          </p:cNvSpPr>
          <p:nvPr>
            <p:ph sz="half" idx="1"/>
          </p:nvPr>
        </p:nvSpPr>
        <p:spPr>
          <a:xfrm>
            <a:off x="358775" y="1470454"/>
            <a:ext cx="4126728" cy="495257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k-SK"/>
              <a:t>Kliknite sem a upravte štýly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symbol obsahu 3"/>
          <p:cNvSpPr>
            <a:spLocks noGrp="1"/>
          </p:cNvSpPr>
          <p:nvPr>
            <p:ph sz="half" idx="2"/>
          </p:nvPr>
        </p:nvSpPr>
        <p:spPr>
          <a:xfrm>
            <a:off x="4744995" y="1470454"/>
            <a:ext cx="4034653" cy="495257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k-SK"/>
              <a:t>Kliknite sem a upravte štýly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</p:spTree>
    <p:extLst>
      <p:ext uri="{BB962C8B-B14F-4D97-AF65-F5344CB8AC3E}">
        <p14:creationId xmlns:p14="http://schemas.microsoft.com/office/powerpoint/2010/main" val="4121484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sk-SK"/>
              <a:t>Kliknite sem a upravte štýl predlohy nadpisov.</a:t>
            </a:r>
          </a:p>
        </p:txBody>
      </p:sp>
      <p:sp>
        <p:nvSpPr>
          <p:cNvPr id="3" name="Zástupný symbol text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textu.</a:t>
            </a:r>
          </a:p>
        </p:txBody>
      </p:sp>
      <p:sp>
        <p:nvSpPr>
          <p:cNvPr id="4" name="Zástupný symbol obsah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k-SK"/>
              <a:t>Kliknite sem a upravte štýly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symbol text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textu.</a:t>
            </a:r>
          </a:p>
        </p:txBody>
      </p:sp>
      <p:sp>
        <p:nvSpPr>
          <p:cNvPr id="6" name="Zástupný symbol obsah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k-SK"/>
              <a:t>Kliknite sem a upravte štýly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</p:spTree>
    <p:extLst>
      <p:ext uri="{BB962C8B-B14F-4D97-AF65-F5344CB8AC3E}">
        <p14:creationId xmlns:p14="http://schemas.microsoft.com/office/powerpoint/2010/main" val="402229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Kliknite sem a upravte štýl predlohy nadpisov.</a:t>
            </a:r>
          </a:p>
        </p:txBody>
      </p:sp>
    </p:spTree>
    <p:extLst>
      <p:ext uri="{BB962C8B-B14F-4D97-AF65-F5344CB8AC3E}">
        <p14:creationId xmlns:p14="http://schemas.microsoft.com/office/powerpoint/2010/main" val="782738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6409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sk-SK"/>
              <a:t>Kliknite sem a upravte štýl predlohy nadpisov.</a:t>
            </a:r>
          </a:p>
        </p:txBody>
      </p:sp>
      <p:sp>
        <p:nvSpPr>
          <p:cNvPr id="3" name="Zástupný symbol obsah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symbol text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k-SK"/>
              <a:t>Kliknite sem a upravte štýly predlohy textu.</a:t>
            </a:r>
          </a:p>
        </p:txBody>
      </p:sp>
    </p:spTree>
    <p:extLst>
      <p:ext uri="{BB962C8B-B14F-4D97-AF65-F5344CB8AC3E}">
        <p14:creationId xmlns:p14="http://schemas.microsoft.com/office/powerpoint/2010/main" val="3970755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sk-SK"/>
              <a:t>Kliknite sem a upravte štýl predlohy nadpisov.</a:t>
            </a:r>
          </a:p>
        </p:txBody>
      </p:sp>
      <p:sp>
        <p:nvSpPr>
          <p:cNvPr id="3" name="Zástupný symbol obrázka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sk-SK" noProof="0"/>
          </a:p>
        </p:txBody>
      </p:sp>
      <p:sp>
        <p:nvSpPr>
          <p:cNvPr id="4" name="Zástupný symbol text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k-SK"/>
              <a:t>Kliknite sem a upravte štýly predlohy textu.</a:t>
            </a:r>
          </a:p>
        </p:txBody>
      </p:sp>
    </p:spTree>
    <p:extLst>
      <p:ext uri="{BB962C8B-B14F-4D97-AF65-F5344CB8AC3E}">
        <p14:creationId xmlns:p14="http://schemas.microsoft.com/office/powerpoint/2010/main" val="3759671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Kliknite sem a upravte štýl predlohy nadpisov.</a:t>
            </a:r>
          </a:p>
        </p:txBody>
      </p:sp>
      <p:sp>
        <p:nvSpPr>
          <p:cNvPr id="3" name="Zástupný symbol zvislého text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</p:spTree>
    <p:extLst>
      <p:ext uri="{BB962C8B-B14F-4D97-AF65-F5344CB8AC3E}">
        <p14:creationId xmlns:p14="http://schemas.microsoft.com/office/powerpoint/2010/main" val="6711365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vislý nadpis 1"/>
          <p:cNvSpPr>
            <a:spLocks noGrp="1"/>
          </p:cNvSpPr>
          <p:nvPr>
            <p:ph type="title" orient="vert"/>
          </p:nvPr>
        </p:nvSpPr>
        <p:spPr>
          <a:xfrm>
            <a:off x="6765925" y="457200"/>
            <a:ext cx="2035175" cy="5965825"/>
          </a:xfrm>
        </p:spPr>
        <p:txBody>
          <a:bodyPr vert="eaVert"/>
          <a:lstStyle/>
          <a:p>
            <a:r>
              <a:rPr lang="sk-SK"/>
              <a:t>Kliknite sem a upravte štýl predlohy nadpisov.</a:t>
            </a:r>
          </a:p>
        </p:txBody>
      </p:sp>
      <p:sp>
        <p:nvSpPr>
          <p:cNvPr id="3" name="Zástupný symbol zvislého textu 2"/>
          <p:cNvSpPr>
            <a:spLocks noGrp="1"/>
          </p:cNvSpPr>
          <p:nvPr>
            <p:ph type="body" orient="vert" idx="1"/>
          </p:nvPr>
        </p:nvSpPr>
        <p:spPr>
          <a:xfrm>
            <a:off x="655638" y="457200"/>
            <a:ext cx="5957887" cy="5965825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</p:spTree>
    <p:extLst>
      <p:ext uri="{BB962C8B-B14F-4D97-AF65-F5344CB8AC3E}">
        <p14:creationId xmlns:p14="http://schemas.microsoft.com/office/powerpoint/2010/main" val="17506388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Nadpis a tabuľ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55638" y="457200"/>
            <a:ext cx="8145462" cy="838200"/>
          </a:xfrm>
        </p:spPr>
        <p:txBody>
          <a:bodyPr/>
          <a:lstStyle/>
          <a:p>
            <a:r>
              <a:rPr lang="sk-SK"/>
              <a:t>Kliknite sem a upravte štýl predlohy nadpisov.</a:t>
            </a:r>
          </a:p>
        </p:txBody>
      </p:sp>
      <p:sp>
        <p:nvSpPr>
          <p:cNvPr id="3" name="Zástupný symbol tabuľky 2"/>
          <p:cNvSpPr>
            <a:spLocks noGrp="1"/>
          </p:cNvSpPr>
          <p:nvPr>
            <p:ph type="tbl" idx="1"/>
          </p:nvPr>
        </p:nvSpPr>
        <p:spPr>
          <a:xfrm>
            <a:off x="655638" y="1781175"/>
            <a:ext cx="7940675" cy="4641850"/>
          </a:xfrm>
        </p:spPr>
        <p:txBody>
          <a:bodyPr>
            <a:normAutofit/>
          </a:bodyPr>
          <a:lstStyle/>
          <a:p>
            <a:pPr lvl="0"/>
            <a:endParaRPr lang="sk-SK" noProof="0"/>
          </a:p>
        </p:txBody>
      </p:sp>
    </p:spTree>
    <p:extLst>
      <p:ext uri="{BB962C8B-B14F-4D97-AF65-F5344CB8AC3E}">
        <p14:creationId xmlns:p14="http://schemas.microsoft.com/office/powerpoint/2010/main" val="39053297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ormál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číslo snímku 2"/>
          <p:cNvSpPr>
            <a:spLocks noGrp="1"/>
          </p:cNvSpPr>
          <p:nvPr>
            <p:ph type="sldNum" sz="quarter" idx="10"/>
          </p:nvPr>
        </p:nvSpPr>
        <p:spPr>
          <a:xfrm>
            <a:off x="642910" y="6572272"/>
            <a:ext cx="714380" cy="222249"/>
          </a:xfrm>
          <a:prstGeom prst="rect">
            <a:avLst/>
          </a:prstGeom>
        </p:spPr>
        <p:txBody>
          <a:bodyPr/>
          <a:lstStyle>
            <a:lvl1pPr algn="r">
              <a:defRPr sz="1200"/>
            </a:lvl1pPr>
          </a:lstStyle>
          <a:p>
            <a:fld id="{AE1A4499-669C-424E-9CF1-865A001487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Nadpis 1"/>
          <p:cNvSpPr>
            <a:spLocks noGrp="1"/>
          </p:cNvSpPr>
          <p:nvPr>
            <p:ph type="title" hasCustomPrompt="1"/>
          </p:nvPr>
        </p:nvSpPr>
        <p:spPr>
          <a:xfrm>
            <a:off x="1428728" y="142852"/>
            <a:ext cx="7258072" cy="64294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4000" b="1" cap="small" baseline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GulimChe" pitchFamily="49" charset="-127"/>
              </a:defRPr>
            </a:lvl1pPr>
          </a:lstStyle>
          <a:p>
            <a:r>
              <a:rPr lang="cs-CZ" dirty="0"/>
              <a:t>Klepnutím lze upravit styl </a:t>
            </a:r>
            <a:r>
              <a:rPr lang="cs-CZ" dirty="0" err="1"/>
              <a:t>prředlo</a:t>
            </a:r>
            <a:endParaRPr lang="en-US" dirty="0"/>
          </a:p>
        </p:txBody>
      </p:sp>
      <p:sp>
        <p:nvSpPr>
          <p:cNvPr id="5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428728" y="857232"/>
            <a:ext cx="7572428" cy="5715040"/>
          </a:xfrm>
          <a:prstGeom prst="rect">
            <a:avLst/>
          </a:prstGeom>
        </p:spPr>
        <p:txBody>
          <a:bodyPr/>
          <a:lstStyle>
            <a:lvl1pPr>
              <a:buClr>
                <a:srgbClr val="0187D0"/>
              </a:buClr>
              <a:buFont typeface="Wingdings 2" pitchFamily="18" charset="2"/>
              <a:buChar char=""/>
              <a:defRPr sz="2400">
                <a:latin typeface="Arial Narrow" pitchFamily="34" charset="0"/>
              </a:defRPr>
            </a:lvl1pPr>
            <a:lvl2pPr>
              <a:buClr>
                <a:srgbClr val="0187D0"/>
              </a:buClr>
              <a:buFont typeface="Wingdings 2" pitchFamily="18" charset="2"/>
              <a:buChar char=""/>
              <a:defRPr sz="2000">
                <a:latin typeface="Arial Narrow" pitchFamily="34" charset="0"/>
              </a:defRPr>
            </a:lvl2pPr>
            <a:lvl3pPr>
              <a:buClr>
                <a:srgbClr val="0187D0"/>
              </a:buClr>
              <a:buFont typeface="Wingdings 2" pitchFamily="18" charset="2"/>
              <a:buChar char=""/>
              <a:defRPr sz="1800">
                <a:latin typeface="Arial Narrow" pitchFamily="34" charset="0"/>
              </a:defRPr>
            </a:lvl3pPr>
            <a:lvl4pPr>
              <a:buClr>
                <a:srgbClr val="0187D0"/>
              </a:buClr>
              <a:buFont typeface="Wingdings 3" pitchFamily="18" charset="2"/>
              <a:buChar char=""/>
              <a:defRPr sz="1400">
                <a:latin typeface="Arial Narrow" pitchFamily="34" charset="0"/>
              </a:defRPr>
            </a:lvl4pPr>
            <a:lvl5pPr>
              <a:defRPr sz="1200">
                <a:latin typeface="Arial Narrow" pitchFamily="34" charset="0"/>
              </a:defRPr>
            </a:lvl5pPr>
          </a:lstStyle>
          <a:p>
            <a:pPr lvl="0"/>
            <a:r>
              <a:rPr lang="cs-CZ" dirty="0" err="1"/>
              <a:t>ěščřžýáíKlepnutím</a:t>
            </a:r>
            <a:r>
              <a:rPr lang="cs-CZ" dirty="0"/>
              <a:t>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288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58775" y="457200"/>
            <a:ext cx="84248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2124" tIns="41061" rIns="82124" bIns="4106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Slide Title</a:t>
            </a:r>
          </a:p>
        </p:txBody>
      </p:sp>
      <p:sp>
        <p:nvSpPr>
          <p:cNvPr id="146436" name="Rectangle 4"/>
          <p:cNvSpPr>
            <a:spLocks noChangeArrowheads="1"/>
          </p:cNvSpPr>
          <p:nvPr/>
        </p:nvSpPr>
        <p:spPr bwMode="auto">
          <a:xfrm>
            <a:off x="0" y="0"/>
            <a:ext cx="9144000" cy="177800"/>
          </a:xfrm>
          <a:prstGeom prst="rect">
            <a:avLst/>
          </a:prstGeom>
          <a:solidFill>
            <a:srgbClr val="015F85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sk-SK"/>
          </a:p>
        </p:txBody>
      </p:sp>
      <p:sp>
        <p:nvSpPr>
          <p:cNvPr id="146440" name="Rectangle 8"/>
          <p:cNvSpPr>
            <a:spLocks noChangeArrowheads="1"/>
          </p:cNvSpPr>
          <p:nvPr/>
        </p:nvSpPr>
        <p:spPr bwMode="auto">
          <a:xfrm>
            <a:off x="8594042" y="6624363"/>
            <a:ext cx="322946" cy="2368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fld id="{5CD5908D-4704-4FB6-A20F-EDC1525CC557}" type="slidenum">
              <a:rPr lang="en-US" sz="1000" smtClean="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  <a:defRPr/>
              </a:pPr>
              <a:t>‹#›</a:t>
            </a:fld>
            <a:endParaRPr lang="en-US" sz="1000" dirty="0">
              <a:solidFill>
                <a:srgbClr val="D3D3D3"/>
              </a:solidFill>
            </a:endParaRPr>
          </a:p>
        </p:txBody>
      </p:sp>
      <p:sp>
        <p:nvSpPr>
          <p:cNvPr id="3077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360363" y="1366838"/>
            <a:ext cx="8423275" cy="518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Second Level</a:t>
            </a:r>
            <a:endParaRPr lang="sk-SK"/>
          </a:p>
          <a:p>
            <a:pPr lvl="2"/>
            <a:r>
              <a:rPr lang="en-US"/>
              <a:t>Third Level</a:t>
            </a:r>
            <a:endParaRPr lang="sk-SK"/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  <p:sldLayoutId id="2147483812" r:id="rId12"/>
    <p:sldLayoutId id="2147483813" r:id="rId13"/>
    <p:sldLayoutId id="2147483817" r:id="rId14"/>
  </p:sldLayoutIdLst>
  <p:txStyles>
    <p:titleStyle>
      <a:lvl1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2pPr>
      <a:lvl3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3pPr>
      <a:lvl4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4pPr>
      <a:lvl5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5pPr>
      <a:lvl6pPr marL="4572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6pPr>
      <a:lvl7pPr marL="9144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7pPr>
      <a:lvl8pPr marL="13716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8pPr>
      <a:lvl9pPr marL="18288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9pPr>
    </p:titleStyle>
    <p:bodyStyle>
      <a:lvl1pPr marL="182563" indent="-182563" algn="l" defTabSz="81438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chemeClr val="tx2"/>
        </a:buClr>
        <a:buSzPct val="100000"/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39750" indent="-18415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2pPr>
      <a:lvl3pPr marL="895350" indent="-173038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3pPr>
      <a:lvl4pPr marL="1250950" indent="-173038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1617663" indent="-18415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320925" indent="-1778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778125" indent="-1778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235325" indent="-1778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692525" indent="-1778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gregr@fit.vutbr.cz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50874" y="2676525"/>
            <a:ext cx="7792482" cy="830263"/>
          </a:xfrm>
        </p:spPr>
        <p:txBody>
          <a:bodyPr/>
          <a:lstStyle/>
          <a:p>
            <a:r>
              <a:rPr lang="cs-CZ" dirty="0" err="1"/>
              <a:t>PDSe</a:t>
            </a:r>
            <a:r>
              <a:rPr lang="cs-CZ" dirty="0"/>
              <a:t> </a:t>
            </a:r>
            <a:r>
              <a:rPr lang="cs-CZ" dirty="0" err="1"/>
              <a:t>project</a:t>
            </a:r>
            <a:r>
              <a:rPr lang="cs-CZ" dirty="0"/>
              <a:t>:</a:t>
            </a:r>
            <a:br>
              <a:rPr lang="cs-CZ" dirty="0"/>
            </a:br>
            <a:br>
              <a:rPr lang="cs-CZ" dirty="0"/>
            </a:br>
            <a:r>
              <a:rPr lang="en-GB" dirty="0"/>
              <a:t>Analysis of Transport Protocols (TCP/QUIC) in Extreme Network Environments</a:t>
            </a:r>
            <a:endParaRPr lang="cs-CZ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165" y="4619625"/>
            <a:ext cx="6940550" cy="830262"/>
          </a:xfrm>
        </p:spPr>
        <p:txBody>
          <a:bodyPr/>
          <a:lstStyle/>
          <a:p>
            <a:pPr algn="r"/>
            <a:r>
              <a:rPr lang="cs-CZ" dirty="0">
                <a:solidFill>
                  <a:schemeClr val="tx1"/>
                </a:solidFill>
              </a:rPr>
              <a:t>Matěj Grégr, </a:t>
            </a:r>
            <a:r>
              <a:rPr lang="cs-CZ" dirty="0">
                <a:solidFill>
                  <a:schemeClr val="tx1"/>
                </a:solidFill>
                <a:hlinkClick r:id="rId2"/>
              </a:rPr>
              <a:t>mgregr@fit.vut.cz</a:t>
            </a:r>
            <a:endParaRPr lang="cs-CZ" dirty="0">
              <a:solidFill>
                <a:schemeClr val="tx1"/>
              </a:solidFill>
            </a:endParaRPr>
          </a:p>
          <a:p>
            <a:pPr algn="r"/>
            <a:endParaRPr lang="cs-CZ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5214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PDSe</a:t>
            </a:r>
            <a:r>
              <a:rPr lang="en-US" dirty="0"/>
              <a:t> project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b="1" dirty="0"/>
              <a:t>Goal</a:t>
            </a:r>
            <a:r>
              <a:rPr lang="en-GB" dirty="0"/>
              <a:t>: Conduct a comparative analysis of different congestion control algorithms (</a:t>
            </a:r>
            <a:r>
              <a:rPr lang="en-GB" b="1" dirty="0"/>
              <a:t>TCP Reno, Cubic, BBR</a:t>
            </a:r>
            <a:r>
              <a:rPr lang="en-GB" dirty="0"/>
              <a:t>) within simulated "hostile" network environments</a:t>
            </a:r>
          </a:p>
          <a:p>
            <a:r>
              <a:rPr lang="en-GB" dirty="0"/>
              <a:t>The project can be conducted through the following steps:</a:t>
            </a:r>
          </a:p>
          <a:p>
            <a:pPr lvl="1"/>
            <a:r>
              <a:rPr lang="en-GB" dirty="0"/>
              <a:t>Study different transport protocols and congestion algorithms in detail</a:t>
            </a:r>
          </a:p>
          <a:p>
            <a:pPr lvl="1"/>
            <a:r>
              <a:rPr lang="en-GB" dirty="0"/>
              <a:t>Set up a simple topology with at least two endpoints and one intermediate router (using VMs, Docker containers, or network namespaces). </a:t>
            </a:r>
          </a:p>
          <a:p>
            <a:pPr lvl="1"/>
            <a:r>
              <a:rPr lang="en-GB" dirty="0"/>
              <a:t>On the router, use </a:t>
            </a:r>
            <a:r>
              <a:rPr lang="en-GB" dirty="0" err="1"/>
              <a:t>tc</a:t>
            </a:r>
            <a:r>
              <a:rPr lang="en-GB" dirty="0"/>
              <a:t> (Traffic Control) to define three "extreme" network paths</a:t>
            </a:r>
          </a:p>
          <a:p>
            <a:pPr lvl="2"/>
            <a:r>
              <a:rPr lang="en-US" dirty="0"/>
              <a:t>"Coffee Shop Wi-Fi": High random packet loss (3–5%) with low latency.</a:t>
            </a:r>
          </a:p>
          <a:p>
            <a:pPr lvl="2"/>
            <a:r>
              <a:rPr lang="en-US" dirty="0"/>
              <a:t>"Starlink-style Satellite": High RTT (600ms+) and significant jitter.</a:t>
            </a:r>
          </a:p>
          <a:p>
            <a:pPr lvl="2"/>
            <a:r>
              <a:rPr lang="en-US" dirty="0"/>
              <a:t>"The </a:t>
            </a:r>
            <a:r>
              <a:rPr lang="en-US" dirty="0" err="1"/>
              <a:t>Bufferbloat</a:t>
            </a:r>
            <a:r>
              <a:rPr lang="en-US" dirty="0"/>
              <a:t> Trap": Limited bandwidth with massive router queues (Deep Buffers), leading to extreme latency spikes under full load.</a:t>
            </a:r>
          </a:p>
          <a:p>
            <a:pPr lvl="1"/>
            <a:r>
              <a:rPr lang="en-US" dirty="0"/>
              <a:t>Measure and benchmark at least two congestion algorithms</a:t>
            </a:r>
          </a:p>
          <a:p>
            <a:pPr lvl="2"/>
            <a:r>
              <a:rPr lang="en-GB" dirty="0"/>
              <a:t>Use </a:t>
            </a:r>
            <a:r>
              <a:rPr lang="en-GB" dirty="0" err="1"/>
              <a:t>iperf</a:t>
            </a:r>
            <a:r>
              <a:rPr lang="en-GB" dirty="0"/>
              <a:t> + </a:t>
            </a:r>
            <a:r>
              <a:rPr lang="en-GB" dirty="0" err="1"/>
              <a:t>wireshark</a:t>
            </a:r>
            <a:r>
              <a:rPr lang="en-GB" dirty="0"/>
              <a:t> to capture </a:t>
            </a:r>
            <a:r>
              <a:rPr lang="en-GB" dirty="0" err="1"/>
              <a:t>pcap</a:t>
            </a:r>
            <a:r>
              <a:rPr lang="en-GB" dirty="0"/>
              <a:t> and </a:t>
            </a:r>
            <a:r>
              <a:rPr lang="en-GB" dirty="0" err="1"/>
              <a:t>analyze</a:t>
            </a:r>
            <a:r>
              <a:rPr lang="en-GB" dirty="0"/>
              <a:t> protocol internals, </a:t>
            </a:r>
            <a:r>
              <a:rPr lang="en-GB" dirty="0" err="1"/>
              <a:t>e.g.how</a:t>
            </a:r>
            <a:r>
              <a:rPr lang="en-GB" dirty="0"/>
              <a:t> fast does the protocol recover to maximum speed after a packet loss event</a:t>
            </a:r>
            <a:endParaRPr lang="en-US" dirty="0"/>
          </a:p>
          <a:p>
            <a:pPr lvl="1"/>
            <a:r>
              <a:rPr lang="en-US" dirty="0"/>
              <a:t>Create report (see below for recommendation)</a:t>
            </a:r>
          </a:p>
          <a:p>
            <a:pPr lvl="1"/>
            <a:r>
              <a:rPr lang="en-US" dirty="0"/>
              <a:t>Present </a:t>
            </a:r>
            <a:r>
              <a:rPr lang="en-US" dirty="0" err="1"/>
              <a:t>resuts</a:t>
            </a:r>
            <a:r>
              <a:rPr lang="en-US" dirty="0"/>
              <a:t> and findings on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3760486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2072E-D59C-67CA-A18C-CFA3F92B5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Z" dirty="0"/>
              <a:t>Project report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977DE-89DF-C771-E604-9AB81B006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Z" dirty="0"/>
              <a:t>The report structure should be as follows:</a:t>
            </a:r>
          </a:p>
          <a:p>
            <a:r>
              <a:rPr lang="en-CZ" dirty="0"/>
              <a:t>Introduction and description of transport protocols and congestion algorithms</a:t>
            </a:r>
          </a:p>
          <a:p>
            <a:r>
              <a:rPr lang="en-CZ" dirty="0"/>
              <a:t>Description of your network topology, monitoring set-up and used software</a:t>
            </a:r>
          </a:p>
          <a:p>
            <a:r>
              <a:rPr lang="en-GB" dirty="0"/>
              <a:t>A set of scripts (Bash/Python) that automatically configure network parameters, run the measurements, and save the logs</a:t>
            </a:r>
          </a:p>
          <a:p>
            <a:r>
              <a:rPr lang="en-GB" dirty="0"/>
              <a:t>CWND Visualization</a:t>
            </a:r>
            <a:r>
              <a:rPr lang="en-GB" b="1" dirty="0"/>
              <a:t>:</a:t>
            </a:r>
            <a:r>
              <a:rPr lang="en-GB" dirty="0"/>
              <a:t> Time-series plots showing how the Congestion Window changed over time for each protocol</a:t>
            </a:r>
            <a:endParaRPr lang="en-CZ" dirty="0"/>
          </a:p>
          <a:p>
            <a:r>
              <a:rPr lang="en-GB" dirty="0"/>
              <a:t>Detailed methodology description.</a:t>
            </a:r>
          </a:p>
          <a:p>
            <a:r>
              <a:rPr lang="en-GB" dirty="0"/>
              <a:t>In-depth explanation of </a:t>
            </a:r>
            <a:r>
              <a:rPr lang="en-GB" i="1" dirty="0"/>
              <a:t>why</a:t>
            </a:r>
            <a:r>
              <a:rPr lang="en-GB" dirty="0"/>
              <a:t> a protocol failed in a specific scenario (e.g., why Cubic underperforms on satellite links).</a:t>
            </a:r>
          </a:p>
          <a:p>
            <a:r>
              <a:rPr lang="en-GB" dirty="0"/>
              <a:t>Proposed optimizations</a:t>
            </a:r>
          </a:p>
          <a:p>
            <a:pPr marL="0" indent="0">
              <a:buNone/>
            </a:pPr>
            <a:endParaRPr lang="en-CZ" dirty="0"/>
          </a:p>
        </p:txBody>
      </p:sp>
    </p:spTree>
    <p:extLst>
      <p:ext uri="{BB962C8B-B14F-4D97-AF65-F5344CB8AC3E}">
        <p14:creationId xmlns:p14="http://schemas.microsoft.com/office/powerpoint/2010/main" val="2531059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E7EEC-DBEF-4846-9F50-83B4CB024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PDSe</a:t>
            </a:r>
            <a:r>
              <a:rPr lang="en-US" dirty="0"/>
              <a:t> project</a:t>
            </a:r>
            <a:endParaRPr lang="en-C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5E26E-991B-7042-B73F-C2B6B3F30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Project deadline: 21.4.2026 (hard deadline).</a:t>
            </a:r>
            <a:endParaRPr lang="en-GB" b="1" dirty="0"/>
          </a:p>
          <a:p>
            <a:r>
              <a:rPr lang="en-GB" dirty="0"/>
              <a:t>Presentations:</a:t>
            </a:r>
            <a:r>
              <a:rPr lang="en-GB" b="1" dirty="0"/>
              <a:t> </a:t>
            </a:r>
            <a:r>
              <a:rPr lang="en-CZ" dirty="0"/>
              <a:t>28.4.2026 during standard class</a:t>
            </a:r>
          </a:p>
          <a:p>
            <a:r>
              <a:rPr lang="en-GB" dirty="0"/>
              <a:t>Maximum points: 20</a:t>
            </a:r>
          </a:p>
          <a:p>
            <a:r>
              <a:rPr lang="en-GB" dirty="0"/>
              <a:t>Online consultations available using Moodle</a:t>
            </a:r>
          </a:p>
          <a:p>
            <a:r>
              <a:rPr lang="en-GB" dirty="0"/>
              <a:t>Individual project – each student creates its own solution</a:t>
            </a:r>
          </a:p>
          <a:p>
            <a:r>
              <a:rPr lang="en-GB" dirty="0"/>
              <a:t>Plagiarism prohibited – see copyrights and the publication policy </a:t>
            </a:r>
            <a:endParaRPr lang="en-CZ" dirty="0"/>
          </a:p>
        </p:txBody>
      </p:sp>
    </p:spTree>
    <p:extLst>
      <p:ext uri="{BB962C8B-B14F-4D97-AF65-F5344CB8AC3E}">
        <p14:creationId xmlns:p14="http://schemas.microsoft.com/office/powerpoint/2010/main" val="2942004958"/>
      </p:ext>
    </p:extLst>
  </p:cSld>
  <p:clrMapOvr>
    <a:masterClrMapping/>
  </p:clrMapOvr>
</p:sld>
</file>

<file path=ppt/theme/theme1.xml><?xml version="1.0" encoding="utf-8"?>
<a:theme xmlns:a="http://schemas.openxmlformats.org/drawingml/2006/main" name="BSCI M1 PP">
  <a:themeElements>
    <a:clrScheme name="BSCI M1 PP 1">
      <a:dk1>
        <a:srgbClr val="000000"/>
      </a:dk1>
      <a:lt1>
        <a:srgbClr val="FFFFFF"/>
      </a:lt1>
      <a:dk2>
        <a:srgbClr val="0183B7"/>
      </a:dk2>
      <a:lt2>
        <a:srgbClr val="8E8E95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BSCI M1 PP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2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2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SCI M1 PP 1">
        <a:dk1>
          <a:srgbClr val="000000"/>
        </a:dk1>
        <a:lt1>
          <a:srgbClr val="FFFFFF"/>
        </a:lt1>
        <a:dk2>
          <a:srgbClr val="0183B7"/>
        </a:dk2>
        <a:lt2>
          <a:srgbClr val="8E8E95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Motív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ív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365</Words>
  <Application>Microsoft Macintosh PowerPoint</Application>
  <PresentationFormat>On-screen Show (4:3)</PresentationFormat>
  <Paragraphs>31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Arial Narrow</vt:lpstr>
      <vt:lpstr>Times</vt:lpstr>
      <vt:lpstr>Wingdings</vt:lpstr>
      <vt:lpstr>Wingdings 2</vt:lpstr>
      <vt:lpstr>Wingdings 3</vt:lpstr>
      <vt:lpstr>BSCI M1 PP</vt:lpstr>
      <vt:lpstr>PDSe project:  Analysis of Transport Protocols (TCP/QUIC) in Extreme Network Environments</vt:lpstr>
      <vt:lpstr>PDSe project</vt:lpstr>
      <vt:lpstr>Project report</vt:lpstr>
      <vt:lpstr>PDSe project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pds-02-rekapitulace2</dc:title>
  <dc:subject>PDS</dc:subject>
  <dc:creator/>
  <cp:lastModifiedBy/>
  <cp:revision>1</cp:revision>
  <dcterms:created xsi:type="dcterms:W3CDTF">2017-02-22T14:11:44Z</dcterms:created>
  <dcterms:modified xsi:type="dcterms:W3CDTF">2026-03-03T06:35:34Z</dcterms:modified>
</cp:coreProperties>
</file>