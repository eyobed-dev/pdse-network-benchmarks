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57" r:id="rId3"/>
    <p:sldId id="558" r:id="rId4"/>
    <p:sldId id="860" r:id="rId5"/>
    <p:sldId id="832" r:id="rId6"/>
  </p:sldIdLst>
  <p:sldSz cx="9144000" cy="6858000" type="screen4x3"/>
  <p:notesSz cx="7099300" cy="10234295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8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96"/>
    <a:srgbClr val="610061"/>
    <a:srgbClr val="A80000"/>
    <a:srgbClr val="EF6611"/>
    <a:srgbClr val="FCFF79"/>
    <a:srgbClr val="E5FF85"/>
    <a:srgbClr val="AFCB95"/>
    <a:srgbClr val="E1E1E1"/>
    <a:srgbClr val="336666"/>
    <a:srgbClr val="CCB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25" autoAdjust="0"/>
    <p:restoredTop sz="87517" autoAdjust="0"/>
  </p:normalViewPr>
  <p:slideViewPr>
    <p:cSldViewPr snapToGrid="0">
      <p:cViewPr varScale="1">
        <p:scale>
          <a:sx n="108" d="100"/>
          <a:sy n="108" d="100"/>
        </p:scale>
        <p:origin x="1112" y="192"/>
      </p:cViewPr>
      <p:guideLst>
        <p:guide orient="horz" pos="1064"/>
        <p:guide pos="2880"/>
        <p:guide pos="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-1266" y="-78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fld id="{44C7E175-4609-4BD8-9A69-802EB4EBD069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60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l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defTabSz="990600">
              <a:lnSpc>
                <a:spcPct val="100000"/>
              </a:lnSpc>
              <a:defRPr sz="1300" b="1"/>
            </a:lvl1pPr>
          </a:lstStyle>
          <a:p>
            <a:pPr>
              <a:defRPr/>
            </a:pPr>
            <a:fld id="{F389164F-FEA1-4992-89B3-E566EEBAA72D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 rot="16200000">
            <a:off x="3200400" y="-1570037"/>
            <a:ext cx="2743200" cy="9144000"/>
          </a:xfrm>
          <a:prstGeom prst="rect">
            <a:avLst/>
          </a:prstGeom>
          <a:solidFill>
            <a:srgbClr val="015F85"/>
          </a:solidFill>
          <a:ln w="9525" algn="ctr">
            <a:noFill/>
            <a:miter lim="800000"/>
          </a:ln>
          <a:effectLst/>
        </p:spPr>
        <p:txBody>
          <a:bodyPr wrap="none" lIns="73025" tIns="36512" rIns="73025" bIns="36512" anchor="ctr"/>
          <a:lstStyle/>
          <a:p>
            <a:pPr>
              <a:defRPr/>
            </a:pPr>
            <a:endParaRPr lang="sk-SK"/>
          </a:p>
        </p:txBody>
      </p:sp>
      <p:sp>
        <p:nvSpPr>
          <p:cNvPr id="147479" name="Rectangle 23"/>
          <p:cNvSpPr>
            <a:spLocks noGrp="1" noChangeArrowheads="1"/>
          </p:cNvSpPr>
          <p:nvPr>
            <p:ph type="ctrTitle" hasCustomPrompt="1"/>
          </p:nvPr>
        </p:nvSpPr>
        <p:spPr bwMode="white">
          <a:xfrm>
            <a:off x="650875" y="2676525"/>
            <a:ext cx="3768725" cy="830263"/>
          </a:xfrm>
        </p:spPr>
        <p:txBody>
          <a:bodyPr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480" name="Rectangle 2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50875" y="4733925"/>
            <a:ext cx="6940550" cy="419100"/>
          </a:xfrm>
        </p:spPr>
        <p:txBody>
          <a:bodyPr/>
          <a:lstStyle>
            <a:lvl1pPr marL="0" indent="0">
              <a:lnSpc>
                <a:spcPct val="90000"/>
              </a:lnSpc>
              <a:buFont typeface="Wingdings" panose="05000000000000000000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705">
              <a:lnSpc>
                <a:spcPct val="100000"/>
              </a:lnSpc>
              <a:defRPr/>
            </a:pPr>
            <a:fld id="{DCC649FD-B645-4DB0-A7B5-ED8F2153FD55}" type="slidenum">
              <a:rPr lang="en-US" sz="1000">
                <a:solidFill>
                  <a:srgbClr val="D3D3D3"/>
                </a:solidFill>
              </a:rPr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0" y="1628775"/>
            <a:ext cx="9144000" cy="2743200"/>
          </a:xfrm>
          <a:prstGeom prst="rect">
            <a:avLst/>
          </a:prstGeom>
          <a:solidFill>
            <a:srgbClr val="015F85"/>
          </a:solidFill>
          <a:ln w="9525" algn="ctr">
            <a:noFill/>
            <a:miter lim="800000"/>
          </a:ln>
          <a:effectLst/>
        </p:spPr>
        <p:txBody>
          <a:bodyPr wrap="square" lIns="82124" tIns="41061" rIns="82124" bIns="41061" anchor="ctr">
            <a:spAutoFit/>
          </a:bodyPr>
          <a:lstStyle/>
          <a:p>
            <a:pPr>
              <a:defRPr/>
            </a:pPr>
            <a:endParaRPr lang="sk-SK"/>
          </a:p>
        </p:txBody>
      </p:sp>
      <p:sp>
        <p:nvSpPr>
          <p:cNvPr id="26" name="Rectangle 23"/>
          <p:cNvSpPr>
            <a:spLocks noGrp="1" noChangeArrowheads="1"/>
          </p:cNvSpPr>
          <p:nvPr>
            <p:ph type="ctrTitle" hasCustomPrompt="1"/>
          </p:nvPr>
        </p:nvSpPr>
        <p:spPr bwMode="white">
          <a:xfrm>
            <a:off x="168677" y="2676525"/>
            <a:ext cx="4598632" cy="830263"/>
          </a:xfrm>
        </p:spPr>
        <p:txBody>
          <a:bodyPr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/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sz="half" idx="1" hasCustomPrompt="1"/>
          </p:nvPr>
        </p:nvSpPr>
        <p:spPr>
          <a:xfrm>
            <a:off x="358775" y="1470454"/>
            <a:ext cx="4126728" cy="49525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 hasCustomPrompt="1"/>
          </p:nvPr>
        </p:nvSpPr>
        <p:spPr>
          <a:xfrm>
            <a:off x="4744995" y="1470454"/>
            <a:ext cx="4034653" cy="49525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textu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</p:txBody>
      </p:sp>
      <p:sp>
        <p:nvSpPr>
          <p:cNvPr id="4" name="Zástupný symbol obsah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  <p:sp>
        <p:nvSpPr>
          <p:cNvPr id="5" name="Zástupný symbol textu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</p:txBody>
      </p:sp>
      <p:sp>
        <p:nvSpPr>
          <p:cNvPr id="6" name="Zástupný symbol obsah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  <a:endParaRPr lang="sk-SK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obsah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obrázka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k-SK" noProof="0"/>
          </a:p>
        </p:txBody>
      </p:sp>
      <p:sp>
        <p:nvSpPr>
          <p:cNvPr id="4" name="Zástupný symbol textu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textu.</a:t>
            </a:r>
            <a:endParaRPr lang="sk-SK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/>
          <p:cNvSpPr>
            <a:spLocks noGrp="1"/>
          </p:cNvSpPr>
          <p:nvPr>
            <p:ph type="title" orient="vert" hasCustomPrompt="1"/>
          </p:nvPr>
        </p:nvSpPr>
        <p:spPr>
          <a:xfrm>
            <a:off x="6765925" y="457200"/>
            <a:ext cx="2035175" cy="5965825"/>
          </a:xfrm>
        </p:spPr>
        <p:txBody>
          <a:bodyPr vert="eaVert"/>
          <a:lstStyle/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zvislého textu 2"/>
          <p:cNvSpPr>
            <a:spLocks noGrp="1"/>
          </p:cNvSpPr>
          <p:nvPr>
            <p:ph type="body" orient="vert" idx="1" hasCustomPrompt="1"/>
          </p:nvPr>
        </p:nvSpPr>
        <p:spPr>
          <a:xfrm>
            <a:off x="655638" y="457200"/>
            <a:ext cx="5957887" cy="5965825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textu.</a:t>
            </a:r>
            <a:endParaRPr lang="sk-SK"/>
          </a:p>
          <a:p>
            <a:pPr lvl="1"/>
            <a:r>
              <a:rPr lang="sk-SK"/>
              <a:t>Druhá úroveň</a:t>
            </a:r>
            <a:endParaRPr lang="sk-SK"/>
          </a:p>
          <a:p>
            <a:pPr lvl="2"/>
            <a:r>
              <a:rPr lang="sk-SK"/>
              <a:t>Tretia úroveň</a:t>
            </a:r>
            <a:endParaRPr lang="sk-SK"/>
          </a:p>
          <a:p>
            <a:pPr lvl="3"/>
            <a:r>
              <a:rPr lang="sk-SK"/>
              <a:t>Štvrtá úroveň</a:t>
            </a:r>
            <a:endParaRPr lang="sk-SK"/>
          </a:p>
          <a:p>
            <a:pPr lvl="4"/>
            <a:r>
              <a:rPr lang="sk-SK"/>
              <a:t>Piata úroveň</a:t>
            </a:r>
            <a:endParaRPr lang="sk-SK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Nadpis a tabuľ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hasCustomPrompt="1"/>
          </p:nvPr>
        </p:nvSpPr>
        <p:spPr>
          <a:xfrm>
            <a:off x="655638" y="457200"/>
            <a:ext cx="8145462" cy="838200"/>
          </a:xfrm>
        </p:spPr>
        <p:txBody>
          <a:bodyPr/>
          <a:lstStyle/>
          <a:p>
            <a:r>
              <a:rPr lang="sk-SK"/>
              <a:t>Kliknite sem a upravte štýl predlohy nadpisov.</a:t>
            </a:r>
            <a:endParaRPr lang="sk-SK"/>
          </a:p>
        </p:txBody>
      </p:sp>
      <p:sp>
        <p:nvSpPr>
          <p:cNvPr id="3" name="Zástupný symbol tabuľky 2"/>
          <p:cNvSpPr>
            <a:spLocks noGrp="1"/>
          </p:cNvSpPr>
          <p:nvPr>
            <p:ph type="tbl" idx="1"/>
          </p:nvPr>
        </p:nvSpPr>
        <p:spPr>
          <a:xfrm>
            <a:off x="655638" y="1781175"/>
            <a:ext cx="7940675" cy="4641850"/>
          </a:xfrm>
        </p:spPr>
        <p:txBody>
          <a:bodyPr>
            <a:normAutofit/>
          </a:bodyPr>
          <a:lstStyle/>
          <a:p>
            <a:pPr lvl="0"/>
            <a:endParaRPr lang="sk-SK" noProof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ormá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číslo snímku 2"/>
          <p:cNvSpPr>
            <a:spLocks noGrp="1"/>
          </p:cNvSpPr>
          <p:nvPr>
            <p:ph type="sldNum" sz="quarter" idx="10"/>
          </p:nvPr>
        </p:nvSpPr>
        <p:spPr>
          <a:xfrm>
            <a:off x="642910" y="6572272"/>
            <a:ext cx="714380" cy="222249"/>
          </a:xfrm>
          <a:prstGeom prst="rect">
            <a:avLst/>
          </a:prstGeom>
        </p:spPr>
        <p:txBody>
          <a:bodyPr/>
          <a:lstStyle>
            <a:lvl1pPr algn="r">
              <a:defRPr sz="1200"/>
            </a:lvl1pPr>
          </a:lstStyle>
          <a:p>
            <a:fld id="{AE1A4499-669C-424E-9CF1-865A0014872C}" type="slidenum">
              <a:rPr lang="en-US" smtClean="0"/>
            </a:fld>
            <a:endParaRPr lang="en-US" dirty="0"/>
          </a:p>
        </p:txBody>
      </p:sp>
      <p:sp>
        <p:nvSpPr>
          <p:cNvPr id="4" name="Nadpis 1"/>
          <p:cNvSpPr>
            <a:spLocks noGrp="1"/>
          </p:cNvSpPr>
          <p:nvPr>
            <p:ph type="title" hasCustomPrompt="1"/>
          </p:nvPr>
        </p:nvSpPr>
        <p:spPr>
          <a:xfrm>
            <a:off x="1428728" y="142852"/>
            <a:ext cx="7258072" cy="64294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4000" b="1" cap="small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itchFamily="34" charset="0"/>
                <a:ea typeface="GulimChe" pitchFamily="49" charset="-127"/>
              </a:defRPr>
            </a:lvl1pPr>
          </a:lstStyle>
          <a:p>
            <a:r>
              <a:rPr lang="cs-CZ" dirty="0"/>
              <a:t>Klepnutím lze upravit styl </a:t>
            </a:r>
            <a:r>
              <a:rPr lang="cs-CZ" dirty="0" err="1"/>
              <a:t>prředlo</a:t>
            </a:r>
            <a:endParaRPr lang="en-US" dirty="0"/>
          </a:p>
        </p:txBody>
      </p:sp>
      <p:sp>
        <p:nvSpPr>
          <p:cNvPr id="5" name="Zástupný symbol pro obsah 2"/>
          <p:cNvSpPr>
            <a:spLocks noGrp="1"/>
          </p:cNvSpPr>
          <p:nvPr>
            <p:ph idx="1" hasCustomPrompt="1"/>
          </p:nvPr>
        </p:nvSpPr>
        <p:spPr>
          <a:xfrm>
            <a:off x="1428728" y="857232"/>
            <a:ext cx="7572428" cy="5715040"/>
          </a:xfrm>
          <a:prstGeom prst="rect">
            <a:avLst/>
          </a:prstGeom>
        </p:spPr>
        <p:txBody>
          <a:bodyPr/>
          <a:lstStyle>
            <a:lvl1pPr>
              <a:buClr>
                <a:srgbClr val="0187D0"/>
              </a:buClr>
              <a:buFont typeface="Wingdings 2" pitchFamily="18" charset="2"/>
              <a:buChar char=""/>
              <a:defRPr sz="2400">
                <a:latin typeface="Arial Narrow" pitchFamily="34" charset="0"/>
              </a:defRPr>
            </a:lvl1pPr>
            <a:lvl2pPr>
              <a:buClr>
                <a:srgbClr val="0187D0"/>
              </a:buClr>
              <a:buFont typeface="Wingdings 2" pitchFamily="18" charset="2"/>
              <a:buChar char=""/>
              <a:defRPr sz="2000">
                <a:latin typeface="Arial Narrow" pitchFamily="34" charset="0"/>
              </a:defRPr>
            </a:lvl2pPr>
            <a:lvl3pPr>
              <a:buClr>
                <a:srgbClr val="0187D0"/>
              </a:buClr>
              <a:buFont typeface="Wingdings 2" pitchFamily="18" charset="2"/>
              <a:buChar char=""/>
              <a:defRPr sz="1800">
                <a:latin typeface="Arial Narrow" pitchFamily="34" charset="0"/>
              </a:defRPr>
            </a:lvl3pPr>
            <a:lvl4pPr>
              <a:buClr>
                <a:srgbClr val="0187D0"/>
              </a:buClr>
              <a:buFont typeface="Wingdings 3" pitchFamily="18" charset="2"/>
              <a:buChar char=""/>
              <a:defRPr sz="1400">
                <a:latin typeface="Arial Narrow" pitchFamily="34" charset="0"/>
              </a:defRPr>
            </a:lvl4pPr>
            <a:lvl5pPr>
              <a:defRPr sz="1200">
                <a:latin typeface="Arial Narrow" pitchFamily="34" charset="0"/>
              </a:defRPr>
            </a:lvl5pPr>
          </a:lstStyle>
          <a:p>
            <a:pPr lvl="0"/>
            <a:r>
              <a:rPr lang="cs-CZ" dirty="0" err="1"/>
              <a:t>ěščřžýáíKlepnutím</a:t>
            </a:r>
            <a:r>
              <a:rPr lang="cs-CZ" dirty="0"/>
              <a:t> lze upravit styly předlohy textu.</a:t>
            </a:r>
            <a:endParaRPr lang="cs-CZ" dirty="0"/>
          </a:p>
          <a:p>
            <a:pPr lvl="1"/>
            <a:r>
              <a:rPr lang="cs-CZ" dirty="0"/>
              <a:t>druhá úroveň</a:t>
            </a:r>
            <a:endParaRPr lang="cs-CZ" dirty="0"/>
          </a:p>
          <a:p>
            <a:pPr lvl="2"/>
            <a:r>
              <a:rPr lang="cs-CZ" dirty="0"/>
              <a:t>Třetí úroveň</a:t>
            </a:r>
            <a:endParaRPr lang="cs-CZ" dirty="0"/>
          </a:p>
          <a:p>
            <a:pPr lvl="3"/>
            <a:r>
              <a:rPr lang="cs-CZ" dirty="0"/>
              <a:t>Čtvrtá úroveň</a:t>
            </a:r>
            <a:endParaRPr lang="cs-CZ" dirty="0"/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8775" y="457200"/>
            <a:ext cx="842486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ctr" anchorCtr="0" compatLnSpc="1"/>
          <a:lstStyle/>
          <a:p>
            <a:pPr lvl="0"/>
            <a:r>
              <a:rPr lang="en-US"/>
              <a:t>Slide Title</a:t>
            </a:r>
            <a:endParaRPr lang="en-US"/>
          </a:p>
        </p:txBody>
      </p:sp>
      <p:sp>
        <p:nvSpPr>
          <p:cNvPr id="146436" name="Rectangle 4"/>
          <p:cNvSpPr>
            <a:spLocks noChangeArrowheads="1"/>
          </p:cNvSpPr>
          <p:nvPr/>
        </p:nvSpPr>
        <p:spPr bwMode="auto">
          <a:xfrm>
            <a:off x="0" y="0"/>
            <a:ext cx="9144000" cy="177800"/>
          </a:xfrm>
          <a:prstGeom prst="rect">
            <a:avLst/>
          </a:prstGeom>
          <a:solidFill>
            <a:srgbClr val="015F85"/>
          </a:solidFill>
          <a:ln w="25400" algn="ctr">
            <a:noFill/>
            <a:miter lim="800000"/>
          </a:ln>
          <a:effectLst/>
        </p:spPr>
        <p:txBody>
          <a:bodyPr wrap="none" anchor="ctr"/>
          <a:lstStyle/>
          <a:p>
            <a:pPr>
              <a:defRPr/>
            </a:pPr>
            <a:endParaRPr lang="sk-SK"/>
          </a:p>
        </p:txBody>
      </p:sp>
      <p:sp>
        <p:nvSpPr>
          <p:cNvPr id="146440" name="Rectangle 8"/>
          <p:cNvSpPr>
            <a:spLocks noChangeArrowheads="1"/>
          </p:cNvSpPr>
          <p:nvPr/>
        </p:nvSpPr>
        <p:spPr bwMode="auto">
          <a:xfrm>
            <a:off x="8594042" y="6624363"/>
            <a:ext cx="322946" cy="236812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705">
              <a:lnSpc>
                <a:spcPct val="100000"/>
              </a:lnSpc>
              <a:defRPr/>
            </a:pPr>
            <a:fld id="{5CD5908D-4704-4FB6-A20F-EDC1525CC557}" type="slidenum">
              <a:rPr lang="en-US" sz="1000" smtClean="0">
                <a:solidFill>
                  <a:srgbClr val="D3D3D3"/>
                </a:solidFill>
              </a:rPr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3077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0363" y="1366838"/>
            <a:ext cx="8423275" cy="518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/>
          <a:lstStyle/>
          <a:p>
            <a:pPr lvl="0"/>
            <a:r>
              <a:rPr lang="en-US"/>
              <a:t>Body Text</a:t>
            </a:r>
            <a:endParaRPr lang="en-US"/>
          </a:p>
          <a:p>
            <a:pPr lvl="1"/>
            <a:r>
              <a:rPr lang="en-US"/>
              <a:t>Second Level</a:t>
            </a:r>
            <a:endParaRPr lang="sk-SK"/>
          </a:p>
          <a:p>
            <a:pPr lvl="2"/>
            <a:r>
              <a:rPr lang="en-US"/>
              <a:t>Third Level</a:t>
            </a:r>
            <a:endParaRPr lang="sk-SK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8147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8147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2pPr>
      <a:lvl3pPr algn="l" defTabSz="8147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3pPr>
      <a:lvl4pPr algn="l" defTabSz="8147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4pPr>
      <a:lvl5pPr algn="l" defTabSz="8147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5pPr>
      <a:lvl6pPr marL="457200" algn="l" defTabSz="814705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6pPr>
      <a:lvl7pPr marL="914400" algn="l" defTabSz="814705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7pPr>
      <a:lvl8pPr marL="1371600" algn="l" defTabSz="814705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8pPr>
      <a:lvl9pPr marL="1828800" algn="l" defTabSz="814705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80604020202020204" pitchFamily="34" charset="0"/>
        </a:defRPr>
      </a:lvl9pPr>
    </p:titleStyle>
    <p:bodyStyle>
      <a:lvl1pPr marL="182880" indent="-182880" algn="l" defTabSz="814705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39750" indent="-184150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2pPr>
      <a:lvl3pPr marL="895350" indent="-173355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3pPr>
      <a:lvl4pPr marL="1250950" indent="-173355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617980" indent="-184150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320925" indent="-177800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778125" indent="-177800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235325" indent="-177800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692525" indent="-177800" algn="l" defTabSz="814705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hyperlink" Target="mailto:mgregr@fit.vutbr.cz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50874" y="2676525"/>
            <a:ext cx="7792482" cy="830263"/>
          </a:xfrm>
        </p:spPr>
        <p:txBody>
          <a:bodyPr/>
          <a:lstStyle/>
          <a:p>
            <a:r>
              <a:rPr lang="cs-CZ" dirty="0" err="1"/>
              <a:t>PDSe</a:t>
            </a:r>
            <a:r>
              <a:rPr lang="cs-CZ" dirty="0"/>
              <a:t> </a:t>
            </a:r>
            <a:r>
              <a:rPr lang="cs-CZ" dirty="0" err="1"/>
              <a:t>project</a:t>
            </a:r>
            <a:r>
              <a:rPr lang="cs-CZ" dirty="0"/>
              <a:t>:</a:t>
            </a:r>
            <a:br>
              <a:rPr lang="cs-CZ" dirty="0"/>
            </a:br>
            <a:br>
              <a:rPr lang="cs-CZ" dirty="0"/>
            </a:br>
            <a:r>
              <a:rPr lang="en-GB" dirty="0"/>
              <a:t>Analysis of Transport Protocols (TCP/QUIC) in Extreme Network Environments</a:t>
            </a:r>
            <a:endParaRPr lang="cs-CZ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165" y="4619625"/>
            <a:ext cx="6940550" cy="830262"/>
          </a:xfrm>
        </p:spPr>
        <p:txBody>
          <a:bodyPr/>
          <a:lstStyle/>
          <a:p>
            <a:pPr algn="r"/>
            <a:r>
              <a:rPr lang="cs-CZ" dirty="0">
                <a:solidFill>
                  <a:schemeClr val="tx1"/>
                </a:solidFill>
              </a:rPr>
              <a:t>Matěj Grégr, </a:t>
            </a:r>
            <a:r>
              <a:rPr lang="cs-CZ" dirty="0">
                <a:solidFill>
                  <a:schemeClr val="tx1"/>
                </a:solidFill>
                <a:hlinkClick r:id="rId1"/>
              </a:rPr>
              <a:t>mgregr@fit.vut.cz</a:t>
            </a:r>
            <a:endParaRPr lang="cs-CZ" dirty="0">
              <a:solidFill>
                <a:schemeClr val="tx1"/>
              </a:solidFill>
            </a:endParaRPr>
          </a:p>
          <a:p>
            <a:pPr algn="r"/>
            <a:endParaRPr lang="cs-CZ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PDSe</a:t>
            </a:r>
            <a:r>
              <a:rPr lang="en-US" dirty="0"/>
              <a:t> project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/>
              <a:t>Goal</a:t>
            </a:r>
            <a:r>
              <a:rPr lang="en-GB" dirty="0"/>
              <a:t>: Conduct a comparative analysis of different congestion control algorithms (</a:t>
            </a:r>
            <a:r>
              <a:rPr lang="en-GB" b="1" dirty="0"/>
              <a:t>TCP Reno, Cubic, BBR</a:t>
            </a:r>
            <a:r>
              <a:rPr lang="en-GB" dirty="0"/>
              <a:t>) within simulated "hostile" network environments</a:t>
            </a:r>
            <a:endParaRPr lang="en-GB" dirty="0"/>
          </a:p>
          <a:p>
            <a:r>
              <a:rPr lang="en-GB" dirty="0"/>
              <a:t>The project can be conducted through the following steps:</a:t>
            </a:r>
            <a:endParaRPr lang="en-GB" dirty="0"/>
          </a:p>
          <a:p>
            <a:pPr lvl="1"/>
            <a:r>
              <a:rPr lang="en-GB" dirty="0"/>
              <a:t>Study different transport protocols and congestion algorithms in detail</a:t>
            </a:r>
            <a:endParaRPr lang="en-GB" dirty="0"/>
          </a:p>
          <a:p>
            <a:pPr lvl="1"/>
            <a:r>
              <a:rPr lang="en-GB" dirty="0"/>
              <a:t>Set up a simple topology with at least two endpoints and one intermediate router (using VMs, Docker containers, or network namespaces). </a:t>
            </a:r>
            <a:endParaRPr lang="en-GB" dirty="0"/>
          </a:p>
          <a:p>
            <a:pPr lvl="1"/>
            <a:r>
              <a:rPr lang="en-GB" dirty="0"/>
              <a:t>On the router, use </a:t>
            </a:r>
            <a:r>
              <a:rPr lang="en-GB" dirty="0" err="1"/>
              <a:t>tc</a:t>
            </a:r>
            <a:r>
              <a:rPr lang="en-GB" dirty="0"/>
              <a:t> (Traffic Control) to define three "extreme" network paths</a:t>
            </a:r>
            <a:endParaRPr lang="en-GB" dirty="0"/>
          </a:p>
          <a:p>
            <a:pPr lvl="2"/>
            <a:r>
              <a:rPr lang="en-US" dirty="0"/>
              <a:t>"Coffee Shop Wi-Fi": High random packet loss (3–5%) with low latency.</a:t>
            </a:r>
            <a:endParaRPr lang="en-US" dirty="0"/>
          </a:p>
          <a:p>
            <a:pPr lvl="2"/>
            <a:r>
              <a:rPr lang="en-US" dirty="0"/>
              <a:t>"Starlink-style Satellite": High RTT (600ms+) and significant jitter.</a:t>
            </a:r>
            <a:endParaRPr lang="en-US" dirty="0"/>
          </a:p>
          <a:p>
            <a:pPr lvl="2"/>
            <a:r>
              <a:rPr lang="en-US" dirty="0"/>
              <a:t>"The </a:t>
            </a:r>
            <a:r>
              <a:rPr lang="en-US" dirty="0" err="1"/>
              <a:t>Bufferbloat</a:t>
            </a:r>
            <a:r>
              <a:rPr lang="en-US" dirty="0"/>
              <a:t> Trap": Limited bandwidth with massive router queues (Deep Buffers), leading to extreme latency spikes under full load.</a:t>
            </a:r>
            <a:endParaRPr lang="en-US" dirty="0"/>
          </a:p>
          <a:p>
            <a:pPr lvl="1"/>
            <a:r>
              <a:rPr lang="en-US" dirty="0"/>
              <a:t>Measure and benchmark at least two congestion algorithms</a:t>
            </a:r>
            <a:endParaRPr lang="en-US" dirty="0"/>
          </a:p>
          <a:p>
            <a:pPr lvl="2"/>
            <a:r>
              <a:rPr lang="en-GB" dirty="0"/>
              <a:t>Use </a:t>
            </a:r>
            <a:r>
              <a:rPr lang="en-GB" dirty="0" err="1"/>
              <a:t>iperf</a:t>
            </a:r>
            <a:r>
              <a:rPr lang="en-GB" dirty="0"/>
              <a:t> + </a:t>
            </a:r>
            <a:r>
              <a:rPr lang="en-GB" dirty="0" err="1"/>
              <a:t>wireshark</a:t>
            </a:r>
            <a:r>
              <a:rPr lang="en-GB" dirty="0"/>
              <a:t> to capture </a:t>
            </a:r>
            <a:r>
              <a:rPr lang="en-GB" dirty="0" err="1"/>
              <a:t>pcap</a:t>
            </a:r>
            <a:r>
              <a:rPr lang="en-GB" dirty="0"/>
              <a:t> and </a:t>
            </a:r>
            <a:r>
              <a:rPr lang="en-GB" dirty="0" err="1"/>
              <a:t>analyze</a:t>
            </a:r>
            <a:r>
              <a:rPr lang="en-GB" dirty="0"/>
              <a:t> protocol internals, </a:t>
            </a:r>
            <a:r>
              <a:rPr lang="en-GB" dirty="0" err="1"/>
              <a:t>e.g.how</a:t>
            </a:r>
            <a:r>
              <a:rPr lang="en-GB" dirty="0"/>
              <a:t> fast does the protocol recover to maximum speed after a packet loss event</a:t>
            </a:r>
            <a:endParaRPr lang="en-US" dirty="0"/>
          </a:p>
          <a:p>
            <a:pPr lvl="1"/>
            <a:r>
              <a:rPr lang="en-US" dirty="0"/>
              <a:t>Create report (see below for recommendation)</a:t>
            </a:r>
            <a:endParaRPr lang="en-US" dirty="0"/>
          </a:p>
          <a:p>
            <a:pPr lvl="1"/>
            <a:r>
              <a:rPr lang="en-US" dirty="0"/>
              <a:t>Present </a:t>
            </a:r>
            <a:r>
              <a:rPr lang="en-US" dirty="0" err="1"/>
              <a:t>resuts</a:t>
            </a:r>
            <a:r>
              <a:rPr lang="en-US" dirty="0"/>
              <a:t> and findings on project presentation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report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report structure should be as follows:</a:t>
            </a:r>
            <a:endParaRPr lang="en-US" dirty="0"/>
          </a:p>
          <a:p>
            <a:r>
              <a:rPr lang="en-US" dirty="0"/>
              <a:t>Introduction and description of transport protocols and congestion algorithms</a:t>
            </a:r>
            <a:endParaRPr lang="en-US" dirty="0"/>
          </a:p>
          <a:p>
            <a:r>
              <a:rPr lang="en-US" dirty="0"/>
              <a:t>Description of your network topology, monitoring set-up and used software</a:t>
            </a:r>
            <a:endParaRPr lang="en-US" dirty="0"/>
          </a:p>
          <a:p>
            <a:r>
              <a:rPr lang="en-GB" dirty="0"/>
              <a:t>A set of scripts (Bash/Python) that automatically configure network parameters, run the measurements, and save the logs</a:t>
            </a:r>
            <a:endParaRPr lang="en-GB" dirty="0"/>
          </a:p>
          <a:p>
            <a:r>
              <a:rPr lang="en-GB" dirty="0"/>
              <a:t>CWND Visualization</a:t>
            </a:r>
            <a:r>
              <a:rPr lang="en-GB" b="1" dirty="0"/>
              <a:t>:</a:t>
            </a:r>
            <a:r>
              <a:rPr lang="en-GB" dirty="0"/>
              <a:t> Time-series plots showing how the Congestion Window changed over time for each protocol</a:t>
            </a:r>
            <a:endParaRPr lang="en-US" dirty="0"/>
          </a:p>
          <a:p>
            <a:r>
              <a:rPr lang="en-GB" dirty="0"/>
              <a:t>Detailed methodology description.</a:t>
            </a:r>
            <a:endParaRPr lang="en-GB" dirty="0"/>
          </a:p>
          <a:p>
            <a:r>
              <a:rPr lang="en-GB" dirty="0"/>
              <a:t>In-depth explanation of </a:t>
            </a:r>
            <a:r>
              <a:rPr lang="en-GB" i="1" dirty="0"/>
              <a:t>why</a:t>
            </a:r>
            <a:r>
              <a:rPr lang="en-GB" dirty="0"/>
              <a:t> a protocol failed in a specific scenario (e.g., why Cubic underperforms on satellite links).</a:t>
            </a:r>
            <a:endParaRPr lang="en-GB" dirty="0"/>
          </a:p>
          <a:p>
            <a:r>
              <a:rPr lang="en-GB" dirty="0"/>
              <a:t>Proposed optimizations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PDSe</a:t>
            </a:r>
            <a:r>
              <a:rPr lang="en-US" dirty="0"/>
              <a:t>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Project deadline: 21.4.2026 (hard deadline).</a:t>
            </a:r>
            <a:endParaRPr lang="en-GB" b="1" dirty="0"/>
          </a:p>
          <a:p>
            <a:r>
              <a:rPr lang="en-GB" dirty="0"/>
              <a:t>Presentations:</a:t>
            </a:r>
            <a:r>
              <a:rPr lang="en-GB" b="1" dirty="0"/>
              <a:t> </a:t>
            </a:r>
            <a:r>
              <a:rPr lang="en-US" dirty="0"/>
              <a:t>28.4.2026 during standard class</a:t>
            </a:r>
            <a:endParaRPr lang="en-US" dirty="0"/>
          </a:p>
          <a:p>
            <a:r>
              <a:rPr lang="en-GB" dirty="0"/>
              <a:t>Maximum points: 20</a:t>
            </a:r>
            <a:endParaRPr lang="en-GB" dirty="0"/>
          </a:p>
          <a:p>
            <a:r>
              <a:rPr lang="en-GB" dirty="0"/>
              <a:t>Online consultations available using Moodle</a:t>
            </a:r>
            <a:endParaRPr lang="en-GB" dirty="0"/>
          </a:p>
          <a:p>
            <a:r>
              <a:rPr lang="en-GB" dirty="0"/>
              <a:t>Individual project – each student creates its own solution</a:t>
            </a:r>
            <a:endParaRPr lang="en-GB" dirty="0"/>
          </a:p>
          <a:p>
            <a:r>
              <a:rPr lang="en-GB" dirty="0"/>
              <a:t>Plagiarism prohibited – see copyrights and the publication policy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SCI M1 PP">
  <a:themeElements>
    <a:clrScheme name="BSCI M1 P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BSCI M1 P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</a:spPr>
      <a:bodyPr vert="horz" wrap="none" lIns="82124" tIns="41061" rIns="82124" bIns="41061" numCol="1" anchor="ctr" anchorCtr="0" compatLnSpc="1">
        <a:spAutoFit/>
      </a:bodyPr>
      <a:lstStyle>
        <a:defPPr marL="0" marR="0" indent="0" algn="ctr" defTabSz="814705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2"/>
          </a:solidFill>
          <a:prstDash val="solid"/>
          <a:round/>
          <a:headEnd type="none" w="med" len="med"/>
          <a:tailEnd type="triangle" w="med" len="med"/>
        </a:ln>
      </a:spPr>
      <a:bodyPr vert="horz" wrap="none" lIns="82124" tIns="41061" rIns="82124" bIns="41061" numCol="1" anchor="ctr" anchorCtr="0" compatLnSpc="1">
        <a:spAutoFit/>
      </a:bodyPr>
      <a:lstStyle>
        <a:defPPr marL="0" marR="0" indent="0" algn="ctr" defTabSz="814705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</a:defRPr>
        </a:defPPr>
      </a:lstStyle>
    </a:lnDef>
  </a:objectDefaults>
  <a:extraClrSchemeLst>
    <a:extraClrScheme>
      <a:clrScheme name="BSCI M1 P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ív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2093</Words>
  <Application>WPS Presentation</Application>
  <PresentationFormat>On-screen Show (4:3)</PresentationFormat>
  <Paragraphs>41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DejaVu Sans</vt:lpstr>
      <vt:lpstr>OpenSymbol</vt:lpstr>
      <vt:lpstr>Arial Narrow</vt:lpstr>
      <vt:lpstr>GulimChe</vt:lpstr>
      <vt:lpstr>Noto Sans CJK HK</vt:lpstr>
      <vt:lpstr>Wingdings 2</vt:lpstr>
      <vt:lpstr>C059</vt:lpstr>
      <vt:lpstr>Wingdings 3</vt:lpstr>
      <vt:lpstr>Times</vt:lpstr>
      <vt:lpstr>Microsoft YaHei</vt:lpstr>
      <vt:lpstr>Droid Sans Fallback</vt:lpstr>
      <vt:lpstr>Arial Unicode MS</vt:lpstr>
      <vt:lpstr>BSCI M1 PP</vt:lpstr>
      <vt:lpstr>PDSe project:  Analysis of Transport Protocols (TCP/QUIC) in Extreme Network Environments</vt:lpstr>
      <vt:lpstr>PDSe project</vt:lpstr>
      <vt:lpstr>Project report</vt:lpstr>
      <vt:lpstr>PDSe 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pds-02-rekapitulace2</dc:title>
  <dc:creator/>
  <dc:subject>PDS</dc:subject>
  <cp:lastModifiedBy>eyobed</cp:lastModifiedBy>
  <cp:revision>2</cp:revision>
  <dcterms:created xsi:type="dcterms:W3CDTF">2026-04-18T08:23:17Z</dcterms:created>
  <dcterms:modified xsi:type="dcterms:W3CDTF">2026-04-18T08:23:17Z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